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79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994814-A4AA-45FF-9516-BFD3F33B7A58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21CDA-05BC-4BDB-8739-165F2CA0AEB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454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21CDA-05BC-4BDB-8739-165F2CA0AEB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7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93090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05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9313360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02754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790386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24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203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1461672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841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62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2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B1DC8A6-9A52-435A-85FD-9248DA6D9E8A}" type="datetimeFigureOut">
              <a:rPr lang="en-US" smtClean="0"/>
              <a:t>11/17/2024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D5C1B95-B4CE-477B-B8EA-3E61459E51F4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32499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hyperlink" Target="https://accounts.google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drive/1zG_n_64aXPtMX5s2FAM9Uy3XHhU3Csn-" TargetMode="External"/><Relationship Id="rId4" Type="http://schemas.openxmlformats.org/officeDocument/2006/relationships/hyperlink" Target="https://colab.new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colab.research.google.com/drive/1ADh_nS-wzpvZJFzOUwJ6a-E8FXiLo4Ik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colab.research.google.com/drive/1JrJc1I67LdkGQUfyE0e9NjoI-uHUUTyU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BO" dirty="0" smtClean="0"/>
              <a:t>INGELEARN</a:t>
            </a:r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BO" dirty="0" smtClean="0"/>
              <a:t>JOSE JHONATAN CHOQUE ARAUJO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817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CLAVES PARA PROGRAMAR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Te dejamos aquí algunos pasos que te simplificarán la vida a la hora de escribir tus primeras líneas de código. </a:t>
            </a:r>
            <a:br>
              <a:rPr lang="es-ES" dirty="0"/>
            </a:br>
            <a:r>
              <a:rPr lang="es-ES" b="1" dirty="0"/>
              <a:t>Recuerda: Programar no es más que dar instrucciones, claras y en orden.</a:t>
            </a:r>
            <a:endParaRPr lang="es-ES" dirty="0"/>
          </a:p>
          <a:p>
            <a:r>
              <a:rPr lang="es-ES" b="1" dirty="0"/>
              <a:t>Entiende el problema:</a:t>
            </a:r>
            <a:r>
              <a:rPr lang="es-ES" dirty="0"/>
              <a:t> La programación comienza por entender el problema en su totalidad </a:t>
            </a:r>
            <a:r>
              <a:rPr lang="es-ES" b="1" dirty="0"/>
              <a:t>antes</a:t>
            </a:r>
            <a:r>
              <a:rPr lang="es-ES" dirty="0"/>
              <a:t> de poner manos a la obra en el código.</a:t>
            </a:r>
          </a:p>
          <a:p>
            <a:r>
              <a:rPr lang="es-ES" b="1" dirty="0"/>
              <a:t>Divide y conquista:</a:t>
            </a:r>
            <a:r>
              <a:rPr lang="es-ES" dirty="0"/>
              <a:t> Separa problemas grandes (que a veces pueden ser intimidantes) en problemas más pequeños y manejables.</a:t>
            </a:r>
          </a:p>
          <a:p>
            <a:r>
              <a:rPr lang="es-ES" b="1" dirty="0"/>
              <a:t>Menos es más:</a:t>
            </a:r>
            <a:r>
              <a:rPr lang="es-ES" dirty="0"/>
              <a:t> ¡No trates de resolver todo el problema de una sola vez! Empieza de a poco, y agrega funciones, complejizándolo de a pasos.</a:t>
            </a:r>
          </a:p>
          <a:p>
            <a:r>
              <a:rPr lang="es-ES" b="1" dirty="0"/>
              <a:t>Prueba, luego implementa:</a:t>
            </a:r>
            <a:r>
              <a:rPr lang="es-ES" dirty="0"/>
              <a:t> ¿No estás seguro/a de cómo funciona cualquier elemento? Pruébalo fuera del programa, entiende lo que hace, y luego lo usas.</a:t>
            </a:r>
          </a:p>
          <a:p>
            <a:r>
              <a:rPr lang="es-ES" b="1" dirty="0"/>
              <a:t>No te frustres:</a:t>
            </a:r>
            <a:r>
              <a:rPr lang="es-ES" dirty="0"/>
              <a:t> El aprendizaje y la experiencia vienen de la mano de equivocarse. No temas probar otra aproximación, aunque signifique comenzar de nuevo.</a:t>
            </a:r>
          </a:p>
          <a:p>
            <a:r>
              <a:rPr lang="es-ES" b="1" dirty="0"/>
              <a:t>Descansa:</a:t>
            </a:r>
            <a:r>
              <a:rPr lang="es-ES" dirty="0"/>
              <a:t> Cuando uno se “bloquea” con un problema, a veces basta con parar a hacer otra cosa, y luego volver. Yo mismo me sorprendo mucho de lo bien que funciona éste método.</a:t>
            </a:r>
          </a:p>
          <a:p>
            <a:endParaRPr lang="en-US" dirty="0"/>
          </a:p>
        </p:txBody>
      </p:sp>
      <p:sp>
        <p:nvSpPr>
          <p:cNvPr id="4" name="CuadroTexto 3"/>
          <p:cNvSpPr txBox="1"/>
          <p:nvPr/>
        </p:nvSpPr>
        <p:spPr>
          <a:xfrm>
            <a:off x="1251678" y="1128451"/>
            <a:ext cx="3161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smtClean="0"/>
              <a:t>(Y no perderse en el intento…)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244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Programar	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smtClean="0"/>
              <a:t>Es la acción de darle a un equipo instrucciones en orden, explicándole paso a paso lo que queremos que haga</a:t>
            </a:r>
            <a:r>
              <a:rPr lang="en-US" dirty="0" smtClean="0"/>
              <a:t>. </a:t>
            </a:r>
          </a:p>
          <a:p>
            <a:r>
              <a:rPr lang="es-BO" dirty="0" smtClean="0"/>
              <a:t>Imaginen que están dando instrucciones a alguien que no sabe hacer nada por su cuenta.</a:t>
            </a:r>
          </a:p>
          <a:p>
            <a:r>
              <a:rPr lang="es-BO" dirty="0" smtClean="0"/>
              <a:t>Tienen que ser extremadamente claros y detallados.</a:t>
            </a:r>
          </a:p>
          <a:p>
            <a:r>
              <a:rPr lang="es-BO" dirty="0"/>
              <a:t>EJEMPLO (https://</a:t>
            </a:r>
            <a:r>
              <a:rPr lang="es-BO" dirty="0" smtClean="0"/>
              <a:t>www.youtube.com/watch?v=cDA3_5982h8)</a:t>
            </a:r>
          </a:p>
        </p:txBody>
      </p:sp>
    </p:spTree>
    <p:extLst>
      <p:ext uri="{BB962C8B-B14F-4D97-AF65-F5344CB8AC3E}">
        <p14:creationId xmlns:p14="http://schemas.microsoft.com/office/powerpoint/2010/main" val="2903146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Ejemplo de un programa</a:t>
            </a:r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2740" y="2034989"/>
            <a:ext cx="9004504" cy="359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53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sintaxis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1400" dirty="0"/>
              <a:t>Diferentes lenguajes de programación tienen distintas sintaxis, es decir, reglas para escribir el código. </a:t>
            </a:r>
          </a:p>
          <a:p>
            <a:r>
              <a:rPr lang="es-ES" sz="1400" dirty="0"/>
              <a:t>En el caso de </a:t>
            </a:r>
            <a:r>
              <a:rPr lang="es-ES" sz="1400" b="1" dirty="0"/>
              <a:t>Python</a:t>
            </a:r>
            <a:r>
              <a:rPr lang="es-ES" sz="1400" dirty="0"/>
              <a:t>, las reglas de sintaxis son bastante simples. Más adelante profundizaremos en el tema. </a:t>
            </a:r>
          </a:p>
          <a:p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línea</a:t>
            </a:r>
            <a:r>
              <a:rPr lang="en-US" sz="1400" dirty="0"/>
              <a:t> =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instrucción</a:t>
            </a:r>
            <a:r>
              <a:rPr lang="en-US" sz="1400" dirty="0"/>
              <a:t>. </a:t>
            </a:r>
            <a:endParaRPr lang="en-US" sz="1400" dirty="0" smtClean="0"/>
          </a:p>
          <a:p>
            <a:r>
              <a:rPr lang="es-ES" sz="1400" dirty="0"/>
              <a:t>Los espacios entre líneas son ignorados (podemos separar nuestro código en “bloques” y mantenerlo más </a:t>
            </a:r>
            <a:r>
              <a:rPr lang="es-ES" sz="1400" dirty="0" smtClean="0"/>
              <a:t>ordenado</a:t>
            </a:r>
          </a:p>
          <a:p>
            <a:r>
              <a:rPr lang="es-ES" sz="1400" dirty="0"/>
              <a:t>Los comentarios se inician con el carácter # y se extienden hasta el final de la línea</a:t>
            </a:r>
            <a:r>
              <a:rPr lang="es-ES" sz="1400" dirty="0" smtClean="0"/>
              <a:t>.</a:t>
            </a:r>
          </a:p>
          <a:p>
            <a:r>
              <a:rPr lang="es-ES" sz="1400" dirty="0"/>
              <a:t>El texto pueden delimitarse con comillas </a:t>
            </a:r>
            <a:r>
              <a:rPr lang="es-ES" sz="1400" dirty="0" smtClean="0"/>
              <a:t>simples (‘) o dobles (“)</a:t>
            </a:r>
          </a:p>
          <a:p>
            <a:r>
              <a:rPr lang="es-ES" sz="1400" dirty="0" smtClean="0"/>
              <a:t>Los bloques de código se delimitan por la </a:t>
            </a:r>
            <a:r>
              <a:rPr lang="es-ES" sz="1400" dirty="0" err="1" smtClean="0"/>
              <a:t>indentacion</a:t>
            </a:r>
            <a:r>
              <a:rPr lang="es-ES" sz="1400" dirty="0" smtClean="0"/>
              <a:t>, no por llaves {}</a:t>
            </a:r>
          </a:p>
          <a:p>
            <a:r>
              <a:rPr lang="es-ES" sz="1400" dirty="0" smtClean="0"/>
              <a:t>Las listas y diccionarios se crean usando corchetes [] y llaves {}, respectivamente (los veremos mas adelante)</a:t>
            </a:r>
          </a:p>
          <a:p>
            <a:r>
              <a:rPr lang="es-ES" sz="1400" dirty="0" smtClean="0"/>
              <a:t>Las expresiones booleanas (es decir, aquellos elementos que solamente tienen dos estados posibles, como un botón o un LED) usan TRUE  y FALSE con mayúscula inicial</a:t>
            </a:r>
          </a:p>
          <a:p>
            <a:r>
              <a:rPr lang="es-ES" sz="1400" dirty="0" smtClean="0"/>
              <a:t>Python usa el punto (.) para separar decimales, no la coma</a:t>
            </a:r>
          </a:p>
          <a:p>
            <a:endParaRPr lang="es-ES" sz="1400" dirty="0" smtClean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33213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variable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251678" y="1470212"/>
            <a:ext cx="10178322" cy="2079811"/>
          </a:xfrm>
        </p:spPr>
        <p:txBody>
          <a:bodyPr/>
          <a:lstStyle/>
          <a:p>
            <a:r>
              <a:rPr lang="es-ES" dirty="0"/>
              <a:t>En muchos lenguajes de programación, las variables se usan para todo, desde guardar momentáneamente un valor, hasta realizar operaciones y almacenar estados complejos.</a:t>
            </a:r>
          </a:p>
          <a:p>
            <a:r>
              <a:rPr lang="es-ES" dirty="0"/>
              <a:t>Una variable tiene un </a:t>
            </a:r>
            <a:r>
              <a:rPr lang="es-ES" b="1" dirty="0"/>
              <a:t>nombre</a:t>
            </a:r>
            <a:r>
              <a:rPr lang="es-ES" dirty="0"/>
              <a:t>, un </a:t>
            </a:r>
            <a:r>
              <a:rPr lang="es-ES" b="1" dirty="0"/>
              <a:t>valor</a:t>
            </a:r>
            <a:r>
              <a:rPr lang="es-ES" dirty="0"/>
              <a:t> guardado y un </a:t>
            </a:r>
            <a:r>
              <a:rPr lang="es-ES" b="1" dirty="0"/>
              <a:t>tipo de datos</a:t>
            </a:r>
            <a:r>
              <a:rPr lang="es-ES" dirty="0"/>
              <a:t> asociado.</a:t>
            </a:r>
          </a:p>
          <a:p>
            <a:r>
              <a:rPr lang="es-ES" b="1" dirty="0"/>
              <a:t>Tipos de datos para </a:t>
            </a:r>
            <a:r>
              <a:rPr lang="es-ES" b="1" dirty="0" smtClean="0"/>
              <a:t>variables</a:t>
            </a:r>
          </a:p>
          <a:p>
            <a:r>
              <a:rPr lang="es-ES" dirty="0"/>
              <a:t>Los tipos más comunes que nos podemos llegar a encontrar en Python son los siguientes:</a:t>
            </a:r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764" y="3711389"/>
            <a:ext cx="8858149" cy="227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07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678" y="494890"/>
            <a:ext cx="7830643" cy="58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433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224784" y="382385"/>
            <a:ext cx="10178322" cy="1492132"/>
          </a:xfrm>
        </p:spPr>
        <p:txBody>
          <a:bodyPr/>
          <a:lstStyle/>
          <a:p>
            <a:r>
              <a:rPr lang="es-BO" dirty="0" smtClean="0"/>
              <a:t>ESTRUCTURAS DE CONTROL</a:t>
            </a:r>
            <a:endParaRPr lang="en-US" dirty="0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4096" y="1568822"/>
            <a:ext cx="8114987" cy="452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378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765" y="976980"/>
            <a:ext cx="7030290" cy="472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079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GOOGLE COLAB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/>
              <a:t>PRIMERO SE DEBE INICIAR SESION CON UNA CUENTA DE GOOGLE ATRAVES DE (</a:t>
            </a:r>
            <a:r>
              <a:rPr lang="es-BO" dirty="0">
                <a:hlinkClick r:id="rId2"/>
              </a:rPr>
              <a:t>https://accounts.google.com</a:t>
            </a:r>
            <a:r>
              <a:rPr lang="es-BO" dirty="0" smtClean="0">
                <a:hlinkClick r:id="rId2"/>
              </a:rPr>
              <a:t>/</a:t>
            </a:r>
            <a:r>
              <a:rPr lang="es-BO" dirty="0" smtClean="0"/>
              <a:t>)</a:t>
            </a:r>
          </a:p>
          <a:p>
            <a:r>
              <a:rPr lang="es-BO" dirty="0"/>
              <a:t>DESPUES DE INICIAR SESION SE PUEDE ACCEDER USANDO LA HERRAMIENTA DE (</a:t>
            </a:r>
            <a:r>
              <a:rPr lang="es-BO" dirty="0">
                <a:hlinkClick r:id="rId3"/>
              </a:rPr>
              <a:t>https://colab.research.google.com</a:t>
            </a:r>
            <a:r>
              <a:rPr lang="es-BO" dirty="0" smtClean="0">
                <a:hlinkClick r:id="rId3"/>
              </a:rPr>
              <a:t>/</a:t>
            </a:r>
            <a:r>
              <a:rPr lang="es-BO" dirty="0"/>
              <a:t>) O CREAR UNA NUEVA LIBRETA </a:t>
            </a:r>
            <a:r>
              <a:rPr lang="es-BO" dirty="0" smtClean="0"/>
              <a:t>CON (</a:t>
            </a:r>
            <a:r>
              <a:rPr lang="es-BO" dirty="0">
                <a:hlinkClick r:id="rId4"/>
              </a:rPr>
              <a:t>https://colab.new</a:t>
            </a:r>
            <a:r>
              <a:rPr lang="es-BO" dirty="0" smtClean="0">
                <a:hlinkClick r:id="rId4"/>
              </a:rPr>
              <a:t>/</a:t>
            </a:r>
            <a:r>
              <a:rPr lang="es-BO" dirty="0" smtClean="0"/>
              <a:t>) </a:t>
            </a:r>
          </a:p>
          <a:p>
            <a:r>
              <a:rPr lang="es-BO" dirty="0"/>
              <a:t>AQUÍ HAY UNA LIBRETA DONDE SE PRODRA TRABAJAR (</a:t>
            </a:r>
            <a:r>
              <a:rPr lang="es-BO" dirty="0">
                <a:hlinkClick r:id="rId5"/>
              </a:rPr>
              <a:t>https://colab.research.google.com/drive/1zG_n_64aXPtMX5s2FAM9Uy3XHhU3Csn-</a:t>
            </a:r>
            <a:r>
              <a:rPr lang="es-BO" dirty="0" smtClean="0"/>
              <a:t>)</a:t>
            </a:r>
          </a:p>
          <a:p>
            <a:endParaRPr lang="es-BO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65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t="-197" b="22618"/>
          <a:stretch/>
        </p:blipFill>
        <p:spPr>
          <a:xfrm>
            <a:off x="977979" y="650746"/>
            <a:ext cx="3119478" cy="259447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649" y="1308847"/>
            <a:ext cx="6509868" cy="4175891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032" y="3548362"/>
            <a:ext cx="4156053" cy="296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574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Estructura de datos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251678" y="1649508"/>
            <a:ext cx="9290816" cy="905434"/>
          </a:xfrm>
        </p:spPr>
        <p:txBody>
          <a:bodyPr/>
          <a:lstStyle/>
          <a:p>
            <a:r>
              <a:rPr lang="es-BO" dirty="0"/>
              <a:t>En aquí se encuentra lo avanzando en código (</a:t>
            </a:r>
            <a:r>
              <a:rPr lang="es-BO" dirty="0">
                <a:hlinkClick r:id="rId2"/>
              </a:rPr>
              <a:t>https://</a:t>
            </a:r>
            <a:r>
              <a:rPr lang="es-BO" dirty="0" smtClean="0">
                <a:hlinkClick r:id="rId2"/>
              </a:rPr>
              <a:t>colab.research.google.com/drive/1ADh_nS-wzpvZJFzOUwJ6a-E8FXiLo4Ik</a:t>
            </a:r>
            <a:r>
              <a:rPr lang="es-BO" dirty="0" smtClean="0"/>
              <a:t>)</a:t>
            </a:r>
          </a:p>
          <a:p>
            <a:endParaRPr lang="es-BO" dirty="0"/>
          </a:p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895" y="2689416"/>
            <a:ext cx="10183646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056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984" y="510302"/>
            <a:ext cx="10297962" cy="5801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763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109537"/>
            <a:ext cx="10610850" cy="663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480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Funciones y </a:t>
            </a:r>
            <a:r>
              <a:rPr lang="es-BO" dirty="0" err="1" smtClean="0"/>
              <a:t>modulos</a:t>
            </a:r>
            <a:r>
              <a:rPr lang="es-BO" dirty="0" smtClean="0"/>
              <a:t> en </a:t>
            </a:r>
            <a:r>
              <a:rPr lang="es-BO" dirty="0" err="1" smtClean="0"/>
              <a:t>python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smtClean="0"/>
              <a:t>En este link se encuentra todo lo avanzado en base </a:t>
            </a:r>
            <a:r>
              <a:rPr lang="es-BO" dirty="0"/>
              <a:t>a funciones (</a:t>
            </a:r>
            <a:r>
              <a:rPr lang="es-BO" dirty="0">
                <a:hlinkClick r:id="rId2"/>
              </a:rPr>
              <a:t>https://colab.research.google.com/drive/1JrJc1I67LdkGQUfyE0e9NjoI-uHUUTyU</a:t>
            </a:r>
            <a:r>
              <a:rPr lang="es-BO" dirty="0" smtClean="0"/>
              <a:t>)</a:t>
            </a:r>
          </a:p>
          <a:p>
            <a:endParaRPr lang="es-BO" dirty="0"/>
          </a:p>
          <a:p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678" y="3899800"/>
            <a:ext cx="9201169" cy="1591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413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INTRODUCCION A LOS EQUIPOS INDUSDRIALES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smtClean="0"/>
              <a:t>PLC (CONTROLADOR LOGICO PROGRAMABLE) es un dispositivo que se puede programar y  que realiza de manera automática las tareas que nosotros le designemos, un </a:t>
            </a:r>
            <a:r>
              <a:rPr lang="es-BO" dirty="0" err="1" smtClean="0"/>
              <a:t>plc</a:t>
            </a:r>
            <a:r>
              <a:rPr lang="es-BO" dirty="0" smtClean="0"/>
              <a:t> esta diseñado para trabajar en entornos industriales con lo cual es robusto, </a:t>
            </a:r>
            <a:r>
              <a:rPr lang="es-BO" dirty="0" err="1" smtClean="0"/>
              <a:t>resitente</a:t>
            </a:r>
            <a:r>
              <a:rPr lang="es-BO" dirty="0" smtClean="0"/>
              <a:t> y esta fabricado para durar muchísimos años, hoy en </a:t>
            </a:r>
            <a:r>
              <a:rPr lang="es-BO" dirty="0" err="1" smtClean="0"/>
              <a:t>dia</a:t>
            </a:r>
            <a:r>
              <a:rPr lang="es-BO" dirty="0" smtClean="0"/>
              <a:t> se puede usar para:</a:t>
            </a:r>
          </a:p>
          <a:p>
            <a:pPr algn="ctr"/>
            <a:r>
              <a:rPr lang="es-BO" dirty="0" smtClean="0"/>
              <a:t>Cintas transportadoras</a:t>
            </a:r>
          </a:p>
          <a:p>
            <a:pPr algn="ctr"/>
            <a:r>
              <a:rPr lang="es-BO" dirty="0" smtClean="0"/>
              <a:t>Maquinas potabilizadoras</a:t>
            </a:r>
          </a:p>
          <a:p>
            <a:pPr algn="ctr"/>
            <a:r>
              <a:rPr lang="es-BO" dirty="0" smtClean="0"/>
              <a:t>Centros de distribución</a:t>
            </a:r>
          </a:p>
          <a:p>
            <a:pPr algn="ctr"/>
            <a:r>
              <a:rPr lang="es-BO" dirty="0" smtClean="0"/>
              <a:t>Etc.</a:t>
            </a:r>
            <a:endParaRPr lang="en-US" dirty="0" smtClean="0"/>
          </a:p>
          <a:p>
            <a:pPr algn="just"/>
            <a:r>
              <a:rPr lang="es-BO" dirty="0" smtClean="0"/>
              <a:t>Según la norma IEC 61131 esta norma determina 5 lenguajes de programación.</a:t>
            </a:r>
          </a:p>
        </p:txBody>
      </p:sp>
    </p:spTree>
    <p:extLst>
      <p:ext uri="{BB962C8B-B14F-4D97-AF65-F5344CB8AC3E}">
        <p14:creationId xmlns:p14="http://schemas.microsoft.com/office/powerpoint/2010/main" val="1374633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251678" y="206189"/>
            <a:ext cx="10178322" cy="6257364"/>
          </a:xfrm>
        </p:spPr>
        <p:txBody>
          <a:bodyPr/>
          <a:lstStyle/>
          <a:p>
            <a:pPr algn="just"/>
            <a:r>
              <a:rPr lang="es-BO" dirty="0" smtClean="0"/>
              <a:t>La diferencia entre un PLC y un ARDUINO esta en la </a:t>
            </a:r>
            <a:r>
              <a:rPr lang="es-BO" dirty="0" err="1" smtClean="0"/>
              <a:t>robustes</a:t>
            </a:r>
            <a:r>
              <a:rPr lang="es-BO" dirty="0" smtClean="0"/>
              <a:t> los PLC están fabricados específicamente para trabajar en entornos industriales, esto quiere decir que soportan temperaturas extremas están fabricados con componentes que pueden duran muchos años y fundamentalmente emisiones </a:t>
            </a:r>
            <a:r>
              <a:rPr lang="es-BO" dirty="0" err="1" smtClean="0"/>
              <a:t>electromacneticas</a:t>
            </a:r>
            <a:r>
              <a:rPr lang="es-BO" dirty="0" smtClean="0"/>
              <a:t> que pueden recibir de cualquier dispositivo industrial</a:t>
            </a:r>
          </a:p>
          <a:p>
            <a:pPr algn="just"/>
            <a:r>
              <a:rPr lang="es-BO" dirty="0" smtClean="0"/>
              <a:t>Un </a:t>
            </a:r>
            <a:r>
              <a:rPr lang="es-BO" dirty="0" err="1" smtClean="0"/>
              <a:t>arduino</a:t>
            </a:r>
            <a:r>
              <a:rPr lang="es-BO" dirty="0" smtClean="0"/>
              <a:t> es fácil de programar, fácil de conseguir y mucho mas sensibles</a:t>
            </a:r>
          </a:p>
          <a:p>
            <a:pPr algn="just"/>
            <a:r>
              <a:rPr lang="es-BO" dirty="0" smtClean="0"/>
              <a:t>Un HDM (Interfaz humanos maquina) este es un panel de operador que se utiliza para mostrar información de un proceso, estos nos permiten controlar y parametrizar cualquier maquina o cualquier sistema que pueda llegar a tener dentro de la industria </a:t>
            </a:r>
          </a:p>
          <a:p>
            <a:pPr algn="just"/>
            <a:r>
              <a:rPr lang="es-BO" dirty="0" smtClean="0"/>
              <a:t>Sensores, es cualquier cosa que nosotros conectamos a un PLC o a cualquier otro sistema industrial y relevan información física de nuestro entorno, pueden relevar presiones, caudales, temperaturas o cualquier otra magnitud que nos podamos encontrar en una industria se utiliza para monitorear los sistemas y controlar cada uno de los aspectos de este ya sea de cuantos paquetes nos vamos a encontrar en una cinta transportadora, cuantos gramos de material debo pesar, cuanto liquido debo hacer pasar por un tubo.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649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251678" y="215153"/>
            <a:ext cx="10178322" cy="6293223"/>
          </a:xfrm>
        </p:spPr>
        <p:txBody>
          <a:bodyPr/>
          <a:lstStyle/>
          <a:p>
            <a:r>
              <a:rPr lang="es-BO" dirty="0" smtClean="0"/>
              <a:t>Los actuadores son aquellos sistemas que están conectados que nos permiten ejercer alguna acción sobre alguna magnitud física es decir que vamos a tener motores que activan y desactivan las cintas, luces que nos permiten hacer indicaciones sobre el estado del sistema, vamos a tener pistones, válvulas, vamos a tener cualquier equipo que nos permitan controlar el proceso de forma directa, trabajan en conjunto con los sensores y el PLC es quien toma las decisiones y les dice a los actuadores cuando </a:t>
            </a:r>
            <a:r>
              <a:rPr lang="es-BO" dirty="0" err="1" smtClean="0"/>
              <a:t>cuando</a:t>
            </a:r>
            <a:r>
              <a:rPr lang="es-BO" dirty="0" smtClean="0"/>
              <a:t> se deben prender, apagar, abrir, cerrar, dependiendo del actuadores que sea.</a:t>
            </a:r>
          </a:p>
          <a:p>
            <a:r>
              <a:rPr lang="es-BO" dirty="0" smtClean="0"/>
              <a:t>Las comunicaciones, </a:t>
            </a:r>
            <a:r>
              <a:rPr lang="es-BO" dirty="0" err="1" smtClean="0"/>
              <a:t>Switches</a:t>
            </a:r>
            <a:r>
              <a:rPr lang="es-BO" dirty="0" smtClean="0"/>
              <a:t>, </a:t>
            </a:r>
            <a:r>
              <a:rPr lang="es-BO" dirty="0" err="1" smtClean="0"/>
              <a:t>gatways</a:t>
            </a:r>
            <a:r>
              <a:rPr lang="es-BO" dirty="0"/>
              <a:t> </a:t>
            </a:r>
            <a:r>
              <a:rPr lang="es-BO" dirty="0" smtClean="0"/>
              <a:t>que nos sirven para conectar y compartir información en grandes cantidades </a:t>
            </a:r>
          </a:p>
          <a:p>
            <a:r>
              <a:rPr lang="es-BO" dirty="0" smtClean="0"/>
              <a:t>Los SCADA/DCS se utiliza para </a:t>
            </a:r>
            <a:r>
              <a:rPr lang="es-BO" dirty="0" err="1" smtClean="0"/>
              <a:t>motiroar</a:t>
            </a:r>
            <a:r>
              <a:rPr lang="es-BO" dirty="0" smtClean="0"/>
              <a:t> sistemas completos o monitorear una planta entera la diferencia entre los dos radica entre como operan, los SCADA, son sistemas de adquisición y </a:t>
            </a:r>
            <a:r>
              <a:rPr lang="es-BO" dirty="0" err="1" smtClean="0"/>
              <a:t>supervicion</a:t>
            </a:r>
            <a:r>
              <a:rPr lang="es-BO" dirty="0" smtClean="0"/>
              <a:t>. Y DCS es mas de control.</a:t>
            </a:r>
          </a:p>
          <a:p>
            <a:r>
              <a:rPr lang="es-BO" dirty="0" smtClean="0"/>
              <a:t>Todo esto compone un SISTEMA INDUSTRIAL TIPICO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347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SISTEMA INDUSTRIAL TIPICO</a:t>
            </a:r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874" y="1716963"/>
            <a:ext cx="8383170" cy="4858428"/>
          </a:xfrm>
          <a:prstGeom prst="rect">
            <a:avLst/>
          </a:prstGeom>
        </p:spPr>
      </p:pic>
      <p:cxnSp>
        <p:nvCxnSpPr>
          <p:cNvPr id="6" name="Conector recto de flecha 5"/>
          <p:cNvCxnSpPr/>
          <p:nvPr/>
        </p:nvCxnSpPr>
        <p:spPr>
          <a:xfrm flipV="1">
            <a:off x="5531224" y="1990165"/>
            <a:ext cx="4276164" cy="7799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/>
          <p:cNvCxnSpPr/>
          <p:nvPr/>
        </p:nvCxnSpPr>
        <p:spPr>
          <a:xfrm flipV="1">
            <a:off x="6705601" y="2770094"/>
            <a:ext cx="3003175" cy="61710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de flecha 8"/>
          <p:cNvCxnSpPr/>
          <p:nvPr/>
        </p:nvCxnSpPr>
        <p:spPr>
          <a:xfrm flipV="1">
            <a:off x="8041342" y="3660989"/>
            <a:ext cx="1595717" cy="21103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/>
          <p:cNvCxnSpPr/>
          <p:nvPr/>
        </p:nvCxnSpPr>
        <p:spPr>
          <a:xfrm flipV="1">
            <a:off x="6651812" y="4104672"/>
            <a:ext cx="2985247" cy="3149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/>
          <p:cNvCxnSpPr/>
          <p:nvPr/>
        </p:nvCxnSpPr>
        <p:spPr>
          <a:xfrm flipV="1">
            <a:off x="5351929" y="4881452"/>
            <a:ext cx="4455459" cy="4564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de flecha 15"/>
          <p:cNvCxnSpPr/>
          <p:nvPr/>
        </p:nvCxnSpPr>
        <p:spPr>
          <a:xfrm flipV="1">
            <a:off x="7915836" y="5754179"/>
            <a:ext cx="1792940" cy="6481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uadroTexto 17"/>
          <p:cNvSpPr txBox="1"/>
          <p:nvPr/>
        </p:nvSpPr>
        <p:spPr>
          <a:xfrm>
            <a:off x="9807388" y="1783534"/>
            <a:ext cx="12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SENSORES</a:t>
            </a:r>
            <a:endParaRPr lang="en-US" dirty="0"/>
          </a:p>
        </p:txBody>
      </p:sp>
      <p:sp>
        <p:nvSpPr>
          <p:cNvPr id="19" name="CuadroTexto 18"/>
          <p:cNvSpPr txBox="1"/>
          <p:nvPr/>
        </p:nvSpPr>
        <p:spPr>
          <a:xfrm>
            <a:off x="9708776" y="2560864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PLC</a:t>
            </a:r>
            <a:endParaRPr lang="en-US" dirty="0"/>
          </a:p>
        </p:txBody>
      </p:sp>
      <p:sp>
        <p:nvSpPr>
          <p:cNvPr id="20" name="CuadroTexto 19"/>
          <p:cNvSpPr txBox="1"/>
          <p:nvPr/>
        </p:nvSpPr>
        <p:spPr>
          <a:xfrm>
            <a:off x="9708776" y="3760330"/>
            <a:ext cx="1378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SWITCH O </a:t>
            </a:r>
          </a:p>
          <a:p>
            <a:r>
              <a:rPr lang="es-BO" dirty="0" smtClean="0"/>
              <a:t>GATEWAY</a:t>
            </a:r>
            <a:endParaRPr lang="en-US" dirty="0"/>
          </a:p>
        </p:txBody>
      </p:sp>
      <p:sp>
        <p:nvSpPr>
          <p:cNvPr id="21" name="CuadroTexto 20"/>
          <p:cNvSpPr txBox="1"/>
          <p:nvPr/>
        </p:nvSpPr>
        <p:spPr>
          <a:xfrm>
            <a:off x="9767828" y="4696786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HDM</a:t>
            </a:r>
            <a:endParaRPr lang="en-US" dirty="0"/>
          </a:p>
        </p:txBody>
      </p:sp>
      <p:sp>
        <p:nvSpPr>
          <p:cNvPr id="22" name="CuadroTexto 21"/>
          <p:cNvSpPr txBox="1"/>
          <p:nvPr/>
        </p:nvSpPr>
        <p:spPr>
          <a:xfrm>
            <a:off x="9594477" y="3428342"/>
            <a:ext cx="1668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ACTUADORES</a:t>
            </a:r>
            <a:endParaRPr lang="en-US" dirty="0"/>
          </a:p>
        </p:txBody>
      </p:sp>
      <p:sp>
        <p:nvSpPr>
          <p:cNvPr id="23" name="CuadroTexto 22"/>
          <p:cNvSpPr txBox="1"/>
          <p:nvPr/>
        </p:nvSpPr>
        <p:spPr>
          <a:xfrm>
            <a:off x="9711496" y="5601920"/>
            <a:ext cx="1434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SCADA/DCS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957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PROTOCOLOS DE COMUNICACIÓN INDUSTRIALES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251678" y="2650896"/>
            <a:ext cx="10178322" cy="3593591"/>
          </a:xfrm>
        </p:spPr>
        <p:txBody>
          <a:bodyPr/>
          <a:lstStyle/>
          <a:p>
            <a:r>
              <a:rPr lang="es-BO" dirty="0" smtClean="0"/>
              <a:t>Son los lenguajes con el que las maquinas se comunicaran entre ellas, nos permitirán transmitir  información de muchísimos dispositivos.</a:t>
            </a:r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663" y="3342638"/>
            <a:ext cx="2133898" cy="110505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5553" y="3432868"/>
            <a:ext cx="2324424" cy="78115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960" y="3350988"/>
            <a:ext cx="2372056" cy="809738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7663" y="5102961"/>
            <a:ext cx="2257740" cy="96215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3684" y="4990406"/>
            <a:ext cx="2048161" cy="1038370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4364" y="5102961"/>
            <a:ext cx="2248214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41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Revoluciones </a:t>
            </a:r>
            <a:r>
              <a:rPr lang="es-BO" dirty="0" err="1" smtClean="0"/>
              <a:t>industruales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smtClean="0"/>
              <a:t>Primera revolución industrial 1760 – 1840 sistemas a vapor, eliminando trabajos manuales.</a:t>
            </a:r>
          </a:p>
          <a:p>
            <a:r>
              <a:rPr lang="es-BO" dirty="0" smtClean="0"/>
              <a:t>Segunda revolución industrial 1870 – 1914 sistemas eléctricos.</a:t>
            </a:r>
          </a:p>
          <a:p>
            <a:r>
              <a:rPr lang="es-BO" dirty="0" smtClean="0"/>
              <a:t>Tercera revolución industrial años 60, dispositivos mas compactos con los PLC, la </a:t>
            </a:r>
            <a:r>
              <a:rPr lang="es-BO" dirty="0" err="1" smtClean="0"/>
              <a:t>electronica</a:t>
            </a:r>
            <a:endParaRPr lang="es-BO" dirty="0"/>
          </a:p>
          <a:p>
            <a:r>
              <a:rPr lang="es-BO" dirty="0" smtClean="0"/>
              <a:t>Cuarta revolución industrial – utilización de </a:t>
            </a:r>
            <a:r>
              <a:rPr lang="es-BO" dirty="0" err="1" smtClean="0"/>
              <a:t>robotica</a:t>
            </a:r>
            <a:r>
              <a:rPr lang="es-BO" dirty="0" smtClean="0"/>
              <a:t>, IA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1007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Una mescla de lo convencional con lo actual</a:t>
            </a:r>
            <a:endParaRPr lang="en-US" dirty="0"/>
          </a:p>
        </p:txBody>
      </p:sp>
      <p:sp>
        <p:nvSpPr>
          <p:cNvPr id="6" name="Marcador de contenido 5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s-BO" sz="1200" dirty="0" smtClean="0"/>
              <a:t>Dispositivos EDGE – Como computadoras </a:t>
            </a:r>
            <a:r>
              <a:rPr lang="es-BO" sz="1200" dirty="0" err="1" smtClean="0"/>
              <a:t>indusctriales</a:t>
            </a:r>
            <a:r>
              <a:rPr lang="es-BO" sz="1200" dirty="0" smtClean="0"/>
              <a:t>, cargan un sistema operativo y permiten cargar lenguajes de programación moderno</a:t>
            </a:r>
          </a:p>
          <a:p>
            <a:r>
              <a:rPr lang="es-BO" sz="1200" dirty="0" err="1" smtClean="0"/>
              <a:t>PLCs</a:t>
            </a:r>
            <a:r>
              <a:rPr lang="es-BO" sz="1200" dirty="0" smtClean="0"/>
              <a:t> open </a:t>
            </a:r>
            <a:r>
              <a:rPr lang="es-BO" sz="1200" dirty="0" err="1" smtClean="0"/>
              <a:t>source</a:t>
            </a:r>
            <a:r>
              <a:rPr lang="es-BO" sz="1200" dirty="0" smtClean="0"/>
              <a:t> – acceso para instalar aplicaciones un hibrido entre un PLC y una computadora.</a:t>
            </a:r>
          </a:p>
          <a:p>
            <a:r>
              <a:rPr lang="es-BO" sz="1200" dirty="0" smtClean="0"/>
              <a:t>GATEWAYS </a:t>
            </a:r>
            <a:r>
              <a:rPr lang="es-BO" sz="1200" dirty="0" err="1" smtClean="0"/>
              <a:t>IoT</a:t>
            </a:r>
            <a:r>
              <a:rPr lang="es-BO" sz="1200" dirty="0" smtClean="0"/>
              <a:t> – protocolos convencionales a mejores</a:t>
            </a:r>
          </a:p>
          <a:p>
            <a:r>
              <a:rPr lang="es-BO" sz="1200" dirty="0" smtClean="0"/>
              <a:t>Firewalls Industriales – Bloquear trafico </a:t>
            </a:r>
            <a:r>
              <a:rPr lang="es-BO" sz="1200" dirty="0" err="1" smtClean="0"/>
              <a:t>indeceado</a:t>
            </a:r>
            <a:endParaRPr lang="es-BO" sz="1200" dirty="0" smtClean="0"/>
          </a:p>
          <a:p>
            <a:r>
              <a:rPr lang="es-BO" sz="1200" dirty="0" smtClean="0"/>
              <a:t>Protocolos </a:t>
            </a:r>
            <a:r>
              <a:rPr lang="es-BO" sz="1200" dirty="0" err="1" smtClean="0"/>
              <a:t>IoT</a:t>
            </a:r>
            <a:r>
              <a:rPr lang="es-BO" sz="1200" dirty="0" smtClean="0"/>
              <a:t> – </a:t>
            </a:r>
          </a:p>
          <a:p>
            <a:r>
              <a:rPr lang="es-BO" sz="1200" dirty="0" smtClean="0"/>
              <a:t>Software especializado – ayuda a crear aplicaciones </a:t>
            </a:r>
          </a:p>
          <a:p>
            <a:r>
              <a:rPr lang="es-BO" sz="1200" dirty="0" smtClean="0"/>
              <a:t>Lenguajes de programación – ayuda con programación </a:t>
            </a:r>
            <a:endParaRPr lang="en-US" sz="1200" dirty="0"/>
          </a:p>
        </p:txBody>
      </p:sp>
      <p:pic>
        <p:nvPicPr>
          <p:cNvPr id="8" name="Marcador de contenido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43615" y="2528716"/>
            <a:ext cx="5734621" cy="2822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1162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PROTOCOLOR DE COMUNICACIÓN – MODBUS Y MQTT</a:t>
            </a:r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817" y="2026824"/>
            <a:ext cx="9926435" cy="58110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4824" y="2760237"/>
            <a:ext cx="5784419" cy="40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549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¿Que es un protocolo de comunicación?</a:t>
            </a:r>
            <a:endParaRPr lang="en-US" dirty="0"/>
          </a:p>
        </p:txBody>
      </p:sp>
      <p:sp>
        <p:nvSpPr>
          <p:cNvPr id="6" name="Marcador de contenido 5"/>
          <p:cNvSpPr>
            <a:spLocks noGrp="1"/>
          </p:cNvSpPr>
          <p:nvPr>
            <p:ph idx="1"/>
          </p:nvPr>
        </p:nvSpPr>
        <p:spPr>
          <a:xfrm>
            <a:off x="1251678" y="1792942"/>
            <a:ext cx="10178322" cy="3593591"/>
          </a:xfrm>
        </p:spPr>
        <p:txBody>
          <a:bodyPr>
            <a:normAutofit/>
          </a:bodyPr>
          <a:lstStyle/>
          <a:p>
            <a:r>
              <a:rPr lang="es-BO" sz="1400" dirty="0" smtClean="0"/>
              <a:t>Un protocolo de comunicación es un conjunto de reglas que utilizan dos o mas dispositivos para enviarse información entre si.</a:t>
            </a:r>
          </a:p>
          <a:p>
            <a:r>
              <a:rPr lang="es-BO" sz="1400" dirty="0" smtClean="0"/>
              <a:t>Es un lista de instrucciones que define:</a:t>
            </a:r>
          </a:p>
          <a:p>
            <a:pPr algn="ctr"/>
            <a:r>
              <a:rPr lang="es-BO" sz="1400" dirty="0" smtClean="0"/>
              <a:t>Como comenzar la con conversación</a:t>
            </a:r>
          </a:p>
          <a:p>
            <a:pPr algn="ctr"/>
            <a:r>
              <a:rPr lang="es-BO" sz="1400" dirty="0" smtClean="0"/>
              <a:t>Como turnarse para hablar </a:t>
            </a:r>
          </a:p>
          <a:p>
            <a:pPr algn="ctr"/>
            <a:r>
              <a:rPr lang="es-BO" sz="1400" dirty="0" smtClean="0"/>
              <a:t>En que “idioma” hablar</a:t>
            </a:r>
          </a:p>
          <a:p>
            <a:pPr algn="ctr"/>
            <a:r>
              <a:rPr lang="es-BO" sz="1400" dirty="0" smtClean="0"/>
              <a:t>Como saber que la comunicación ha terminado</a:t>
            </a:r>
          </a:p>
          <a:p>
            <a:pPr algn="just"/>
            <a:r>
              <a:rPr lang="es-BO" sz="1400" dirty="0" smtClean="0"/>
              <a:t>Actualmente existen cientos de protocolos de comunicación y cada uno tiene sus fortalezas y debilidades.</a:t>
            </a:r>
          </a:p>
          <a:p>
            <a:pPr algn="just"/>
            <a:r>
              <a:rPr lang="es-BO" sz="1400" dirty="0" smtClean="0"/>
              <a:t>Protocolos que se vera en la clase: MQTT y </a:t>
            </a:r>
            <a:r>
              <a:rPr lang="es-BO" sz="1400" dirty="0" err="1" smtClean="0"/>
              <a:t>Modbus</a:t>
            </a:r>
            <a:endParaRPr lang="es-BO" sz="1400" dirty="0" smtClean="0"/>
          </a:p>
          <a:p>
            <a:pPr algn="just"/>
            <a:endParaRPr lang="en-US" sz="140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306" y="4367026"/>
            <a:ext cx="3685624" cy="2490974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548" y="4155728"/>
            <a:ext cx="3727304" cy="1352456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3548" y="5484002"/>
            <a:ext cx="2800741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782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smtClean="0"/>
              <a:t>CONECTIVIDAD INDUSTRIAL</a:t>
            </a:r>
            <a:endParaRPr lang="en-US" dirty="0"/>
          </a:p>
        </p:txBody>
      </p:sp>
      <p:sp>
        <p:nvSpPr>
          <p:cNvPr id="11" name="Marcador de contenido 10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smtClean="0"/>
              <a:t>La transformación digital ha revolucionado la fabricación y la automatización industrial</a:t>
            </a:r>
            <a:r>
              <a:rPr lang="en-US" dirty="0" smtClean="0"/>
              <a:t>.</a:t>
            </a:r>
          </a:p>
          <a:p>
            <a:r>
              <a:rPr lang="es-BO" dirty="0" smtClean="0"/>
              <a:t>Con ello, los protocolos de comunicación se han convertido en una parte fundamental de los procesos al permitir la conexión y el intercambio de datos entre dispositivos y sistemas en entornos industriales.</a:t>
            </a:r>
          </a:p>
        </p:txBody>
      </p:sp>
    </p:spTree>
    <p:extLst>
      <p:ext uri="{BB962C8B-B14F-4D97-AF65-F5344CB8AC3E}">
        <p14:creationId xmlns:p14="http://schemas.microsoft.com/office/powerpoint/2010/main" val="17484953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BO" dirty="0" err="1" smtClean="0"/>
              <a:t>modbus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251678" y="1488141"/>
            <a:ext cx="10178322" cy="5074024"/>
          </a:xfrm>
        </p:spPr>
        <p:txBody>
          <a:bodyPr>
            <a:normAutofit/>
          </a:bodyPr>
          <a:lstStyle/>
          <a:p>
            <a:r>
              <a:rPr lang="es-BO" sz="1400" dirty="0" smtClean="0"/>
              <a:t>La comunicación MODBUS siempre se hace de formal local. Esto significa que no podrán comunicar desde google </a:t>
            </a:r>
            <a:r>
              <a:rPr lang="es-BO" sz="1400" dirty="0" err="1" smtClean="0"/>
              <a:t>colab</a:t>
            </a:r>
            <a:r>
              <a:rPr lang="es-BO" sz="1400" dirty="0" smtClean="0"/>
              <a:t>.</a:t>
            </a:r>
          </a:p>
          <a:p>
            <a:endParaRPr lang="en-US" sz="1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78" y="2530204"/>
            <a:ext cx="4829849" cy="219105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6318" y="2519976"/>
            <a:ext cx="3142522" cy="2201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638078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TM10001106[[fn=Distintivo]]</Template>
  <TotalTime>409</TotalTime>
  <Words>1196</Words>
  <Application>Microsoft Office PowerPoint</Application>
  <PresentationFormat>Panorámica</PresentationFormat>
  <Paragraphs>96</Paragraphs>
  <Slides>26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1" baseType="lpstr">
      <vt:lpstr>Arial</vt:lpstr>
      <vt:lpstr>Calibri</vt:lpstr>
      <vt:lpstr>Gill Sans MT</vt:lpstr>
      <vt:lpstr>Impact</vt:lpstr>
      <vt:lpstr>Badge</vt:lpstr>
      <vt:lpstr>INGELEARN</vt:lpstr>
      <vt:lpstr>CLAVES PARA PROGRAMAR</vt:lpstr>
      <vt:lpstr>Programar </vt:lpstr>
      <vt:lpstr>Ejemplo de un programa</vt:lpstr>
      <vt:lpstr>sintaxis</vt:lpstr>
      <vt:lpstr>variable</vt:lpstr>
      <vt:lpstr>Presentación de PowerPoint</vt:lpstr>
      <vt:lpstr>ESTRUCTURAS DE CONTROL</vt:lpstr>
      <vt:lpstr>Presentación de PowerPoint</vt:lpstr>
      <vt:lpstr>GOOGLE COLAB</vt:lpstr>
      <vt:lpstr>Presentación de PowerPoint</vt:lpstr>
      <vt:lpstr>Estructura de datos</vt:lpstr>
      <vt:lpstr>Presentación de PowerPoint</vt:lpstr>
      <vt:lpstr>Presentación de PowerPoint</vt:lpstr>
      <vt:lpstr>Funciones y modulos en python</vt:lpstr>
      <vt:lpstr>INTRODUCCION A LOS EQUIPOS INDUSDRIALES</vt:lpstr>
      <vt:lpstr>Presentación de PowerPoint</vt:lpstr>
      <vt:lpstr>Presentación de PowerPoint</vt:lpstr>
      <vt:lpstr>SISTEMA INDUSTRIAL TIPICO</vt:lpstr>
      <vt:lpstr>PROTOCOLOS DE COMUNICACIÓN INDUSTRIALES</vt:lpstr>
      <vt:lpstr>Revoluciones industruales</vt:lpstr>
      <vt:lpstr>Una mescla de lo convencional con lo actual</vt:lpstr>
      <vt:lpstr>PROTOCOLOR DE COMUNICACIÓN – MODBUS Y MQTT</vt:lpstr>
      <vt:lpstr>¿Que es un protocolo de comunicación?</vt:lpstr>
      <vt:lpstr>CONECTIVIDAD INDUSTRIAL</vt:lpstr>
      <vt:lpstr>modbus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INGELEARN</dc:title>
  <dc:creator>Jhonatan</dc:creator>
  <cp:lastModifiedBy>Jhonatan</cp:lastModifiedBy>
  <cp:revision>20</cp:revision>
  <dcterms:created xsi:type="dcterms:W3CDTF">2024-11-15T01:38:51Z</dcterms:created>
  <dcterms:modified xsi:type="dcterms:W3CDTF">2024-11-17T06:31:30Z</dcterms:modified>
</cp:coreProperties>
</file>